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63" r:id="rId10"/>
    <p:sldId id="264" r:id="rId11"/>
    <p:sldId id="265" r:id="rId12"/>
    <p:sldId id="266" r:id="rId13"/>
    <p:sldId id="267" r:id="rId14"/>
    <p:sldId id="271" r:id="rId15"/>
    <p:sldId id="268" r:id="rId16"/>
    <p:sldId id="269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8478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31520" y="411480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731520" y="411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CATEGORY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971800" y="411480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F5A04A"/>
          </a:solidFill>
          <a:ln w="12700">
            <a:solidFill>
              <a:srgbClr val="F5A0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71800" y="411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 ANGELS FINAL HACKATHON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7" name="Image 0" descr="/home/claude/log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14400"/>
            <a:ext cx="3611880" cy="50738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17830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</a:t>
            </a:r>
            <a:r>
              <a:rPr lang="en-US" sz="5000" b="1" dirty="0">
                <a:solidFill>
                  <a:srgbClr val="2E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5000" b="1" dirty="0">
                <a:solidFill>
                  <a:srgbClr val="3FD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5000" b="1" dirty="0">
                <a:solidFill>
                  <a:srgbClr val="7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5000" b="1" dirty="0">
                <a:solidFill>
                  <a:srgbClr val="8FC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5000" b="1" dirty="0">
                <a:solidFill>
                  <a:srgbClr val="A2C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r>
              <a:rPr lang="en-US" sz="5000" b="1" dirty="0">
                <a:solidFill>
                  <a:srgbClr val="B9C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5000" b="1" dirty="0">
                <a:solidFill>
                  <a:srgbClr val="CDB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5000" b="1" dirty="0">
                <a:solidFill>
                  <a:srgbClr val="F0A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5000" b="1" dirty="0">
                <a:solidFill>
                  <a:srgbClr val="F5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</a:t>
            </a:r>
            <a:endParaRPr lang="en-US" sz="5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606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 extra food. </a:t>
            </a:r>
            <a:r>
              <a:rPr lang="en-US" sz="2200" b="1" dirty="0">
                <a:solidFill>
                  <a:srgbClr val="F5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real people.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1089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food rescue network that connects kitchens with surplus food to people nearby, quickly and safely.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133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 Aslam Khan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4074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5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2788920" y="4133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Tanveer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788920" y="44074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4133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Tehniat Fatima Khan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44074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903720" y="4133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 Kumar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903720" y="44074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640080" cy="4572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2A1E"/>
          </a:solidFill>
          <a:ln w="12700">
            <a:solidFill>
              <a:srgbClr val="0B2A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ManOSalwaKnot  |  Social Category  |  Pak Angels Final Hackathon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188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828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4688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468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108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and Contribution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749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(Flow Diagram)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11887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1188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(Architecture and AI Agents)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18288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6344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212080" y="1828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63440" y="24688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6344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212080" y="2468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663440" y="31089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66344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212080" y="3108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Next Steps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663440" y="37490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6634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212080" y="3749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Q/A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640080" cy="4572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2A1E"/>
          </a:solidFill>
          <a:ln w="12700">
            <a:solidFill>
              <a:srgbClr val="0B2A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ManOSalwaKnot  |  Social Category  |  Pak Angels Final Hackathon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Restaurants, wedding halls and bakeries often end up with good food that nobody will eat.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same time, many families around them struggle to afford enough meals.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ManOSalwaKnot connects the two in real time. Kitchens post their surplus and people nearby reserve it.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helps people find food, check its quality, stay within budget and hear about new drops.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food is paid for in cash when it is picked up.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640080" cy="4572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2A1E"/>
          </a:solidFill>
          <a:ln w="12700">
            <a:solidFill>
              <a:srgbClr val="0B2A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ManOSalwaKnot  |  Social Category  |  Pak Angels Final Hackathon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143000"/>
            <a:ext cx="2743200" cy="3291840"/>
          </a:xfrm>
          <a:prstGeom prst="roundRect">
            <a:avLst>
              <a:gd name="adj" fmla="val 2000"/>
            </a:avLst>
          </a:prstGeom>
          <a:solidFill>
            <a:srgbClr val="0B2A1E"/>
          </a:solidFill>
          <a:ln w="12700">
            <a:solidFill>
              <a:srgbClr val="0B2A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2E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36M+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28600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tonnes of food wasted every year in Pakistan and South Asia, while millions of families face food insecurity.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66160" y="1143000"/>
            <a:ext cx="50292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1234440"/>
            <a:ext cx="54864" cy="36576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49040" y="12344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fast way to sell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16459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Kitchens throw out edible food at the end of a shift. No quick channel reaches nearby people before it spoils.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566160" y="2286000"/>
            <a:ext cx="50292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2377440"/>
            <a:ext cx="54864" cy="36576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49040" y="23774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are hard to trust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27889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worry about spoilage and hygiene and cannot tell if a food photo is honest.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566160" y="3429000"/>
            <a:ext cx="50292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66160" y="3520440"/>
            <a:ext cx="54864" cy="36576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49040" y="35204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adds friction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39319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payments and normal shopping steps are too slow for food that expires in hours.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640080" cy="4572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2A1E"/>
          </a:solidFill>
          <a:ln w="12700">
            <a:solidFill>
              <a:srgbClr val="0B2A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ManOSalwaKnot  |  Social Category  |  Pak Angels Final Hackathon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4300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kitchens post surplus food and reach people nearby quickly.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food photos and vendor reputation so buyers can trust a listing.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 in English, Urdu and Roman Urdu using real listings.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food to a person's budget and party size.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discounts based on the time left before expiry.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nearby subscribers by email when new food is posted.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pickup simple with a voucher code and cash on pickup.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and Contribution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640080" cy="4572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2A1E"/>
          </a:solidFill>
          <a:ln w="12700">
            <a:solidFill>
              <a:srgbClr val="0B2A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ManOSalwaKnot  |  Social Category  |  Pak Angels Final Hackathon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393192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280160"/>
            <a:ext cx="54864" cy="36576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2801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69164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2: Zero Hunger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11: Sustainable Cities and Communities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12: Responsible Consumption and Production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393192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280160"/>
            <a:ext cx="54864" cy="36576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2801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benefits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69164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edible food thrown away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meals for families and students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 and hostels get alerts about nearby food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Kitchens recover some of their cost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8046720" cy="731520"/>
          </a:xfrm>
          <a:prstGeom prst="roundRect">
            <a:avLst>
              <a:gd name="adj" fmla="val 7500"/>
            </a:avLst>
          </a:prstGeom>
          <a:solidFill>
            <a:srgbClr val="0B2A1E"/>
          </a:solidFill>
          <a:ln w="12700">
            <a:solidFill>
              <a:srgbClr val="0B2A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7490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one platform that handles posting, trust checks, matching, alerts and pickup, instead of leaving each step to chance.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365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surplus to pickup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04672"/>
            <a:ext cx="640080" cy="4572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2A1E"/>
          </a:solidFill>
          <a:ln w="12700">
            <a:solidFill>
              <a:srgbClr val="0B2A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ManOSalwaKnot  |  Social Category  |  Pak Angels Final Hackathon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1234440" cy="2286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3716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1920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posts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4231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food photo, quantity, price and expiry time.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783080" y="1572768"/>
            <a:ext cx="128016" cy="0"/>
          </a:xfrm>
          <a:prstGeom prst="line">
            <a:avLst/>
          </a:prstGeom>
          <a:noFill/>
          <a:ln w="25400">
            <a:solidFill>
              <a:srgbClr val="2EC9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911096" y="1234440"/>
            <a:ext cx="1234440" cy="2286000"/>
          </a:xfrm>
          <a:prstGeom prst="roundRect">
            <a:avLst>
              <a:gd name="adj" fmla="val 4444"/>
            </a:avLst>
          </a:prstGeom>
          <a:solidFill>
            <a:srgbClr val="F4F7F3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22576" y="13716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22576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984248" y="1920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checks quality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002536" y="24231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scans the photo. Tavily checks the vendor.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45536" y="1572768"/>
            <a:ext cx="128016" cy="0"/>
          </a:xfrm>
          <a:prstGeom prst="line">
            <a:avLst/>
          </a:prstGeom>
          <a:noFill/>
          <a:ln w="25400">
            <a:solidFill>
              <a:srgbClr val="2EC9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273552" y="1234440"/>
            <a:ext cx="1234440" cy="2286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85032" y="13716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85032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346704" y="1920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goes live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364992" y="24231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on the feed and map. Saved in Supabase.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07992" y="1572768"/>
            <a:ext cx="128016" cy="0"/>
          </a:xfrm>
          <a:prstGeom prst="line">
            <a:avLst/>
          </a:prstGeom>
          <a:noFill/>
          <a:ln w="25400">
            <a:solidFill>
              <a:srgbClr val="2EC98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636008" y="1234440"/>
            <a:ext cx="1234440" cy="2286000"/>
          </a:xfrm>
          <a:prstGeom prst="roundRect">
            <a:avLst>
              <a:gd name="adj" fmla="val 4444"/>
            </a:avLst>
          </a:prstGeom>
          <a:solidFill>
            <a:srgbClr val="F4F7F3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47488" y="13716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47488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709160" y="1920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people alerted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727448" y="24231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within range get an email via Resend.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870448" y="1572768"/>
            <a:ext cx="128016" cy="0"/>
          </a:xfrm>
          <a:prstGeom prst="line">
            <a:avLst/>
          </a:prstGeom>
          <a:noFill/>
          <a:ln w="25400">
            <a:solidFill>
              <a:srgbClr val="2EC98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998464" y="1234440"/>
            <a:ext cx="1234440" cy="2286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9944" y="13716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9944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071616" y="1920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reserves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089904" y="24231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gives a pickup code (#RSV-XXXX).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232904" y="1572768"/>
            <a:ext cx="128016" cy="0"/>
          </a:xfrm>
          <a:prstGeom prst="line">
            <a:avLst/>
          </a:prstGeom>
          <a:noFill/>
          <a:ln w="25400">
            <a:solidFill>
              <a:srgbClr val="2EC98A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360920" y="1234440"/>
            <a:ext cx="1234440" cy="2286000"/>
          </a:xfrm>
          <a:prstGeom prst="roundRect">
            <a:avLst>
              <a:gd name="adj" fmla="val 4444"/>
            </a:avLst>
          </a:prstGeom>
          <a:solidFill>
            <a:srgbClr val="F4F7F3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72400" y="13716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5A04A"/>
          </a:solidFill>
          <a:ln w="12700">
            <a:solidFill>
              <a:srgbClr val="F5A04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724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434072" y="1920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at pickup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452360" y="24231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collects the food and pays in cash.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8640" y="3749040"/>
            <a:ext cx="8046720" cy="731520"/>
          </a:xfrm>
          <a:prstGeom prst="roundRect">
            <a:avLst>
              <a:gd name="adj" fmla="val 7500"/>
            </a:avLst>
          </a:prstGeom>
          <a:solidFill>
            <a:srgbClr val="0B2A1E"/>
          </a:solidFill>
          <a:ln w="12700">
            <a:solidFill>
              <a:srgbClr val="0B2A1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77240" y="37490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along the way: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Salwa answers questions in English, Urdu or Roman Urdu, and the Matchmaker ranks food by budget, party size and distance.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roject overview poster" descr="WhatsApp_Image_2026-10-04_at_20_15_5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5" y="45720"/>
            <a:ext cx="713232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846320"/>
            <a:ext cx="6400800" cy="29718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/>
            <a:r>
              <a:rPr sz="900" i="1">
                <a:solidFill>
                  <a:srgbClr val="FFFFFF"/>
                </a:solidFill>
                <a:latin typeface="Calibri"/>
              </a:rPr>
              <a:t>ManOSalwaKnot  |  Social Category  |  Pak Angels Final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846320"/>
            <a:ext cx="457200" cy="297180"/>
          </a:xfrm>
          <a:prstGeom prst="rect">
            <a:avLst/>
          </a:prstGeom>
          <a:noFill/>
        </p:spPr>
        <p:txBody>
          <a:bodyPr wrap="none" tIns="0" rIns="0" bIns="0" anchor="ctr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365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04672"/>
            <a:ext cx="640080" cy="4572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2A1E"/>
          </a:solidFill>
          <a:ln w="12700">
            <a:solidFill>
              <a:srgbClr val="0B2A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ManOSalwaKnot  |  Social Category  |  Pak Angels Final Hackathon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00584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0B2A1E"/>
          </a:solidFill>
          <a:ln w="12700">
            <a:solidFill>
              <a:srgbClr val="0B2A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 and map  |  AI Matchmaker  |  Ask Salwa  |  Photo Inspector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572768"/>
            <a:ext cx="0" cy="228600"/>
          </a:xfrm>
          <a:prstGeom prst="line">
            <a:avLst/>
          </a:prstGeom>
          <a:noFill/>
          <a:ln w="25400">
            <a:solidFill>
              <a:srgbClr val="2EC9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182880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1E5A3F"/>
          </a:solidFill>
          <a:ln w="12700">
            <a:solidFill>
              <a:srgbClr val="1E5A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/api/chat  /api/matchmaking  /api/quality/analyze  /api/email/notify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395728"/>
            <a:ext cx="0" cy="228600"/>
          </a:xfrm>
          <a:prstGeom prst="line">
            <a:avLst/>
          </a:prstGeom>
          <a:noFill/>
          <a:ln w="25400">
            <a:solidFill>
              <a:srgbClr val="2EC9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265176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271576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Salwa chat agent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301752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+ search, budget, distance and vendor-check tools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06040" y="265176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15768" y="271576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Matchmaker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715768" y="301752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+ value scoring and markdown pricing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65176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73168" y="271576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inspector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773168" y="301752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photo check + Tavily vendor check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20840" y="265176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30568" y="271576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agent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830568" y="301752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math + Resend email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3630168"/>
            <a:ext cx="0" cy="228600"/>
          </a:xfrm>
          <a:prstGeom prst="line">
            <a:avLst/>
          </a:prstGeom>
          <a:noFill/>
          <a:ln w="25400">
            <a:solidFill>
              <a:srgbClr val="2EC98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48640" y="393192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E3EEE1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(database and login)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91840" y="393192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E3EEE1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29184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Redis (cache and chat history)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35040" y="393192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E3EEE1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3504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(email delivery)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365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1: Salwa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04672"/>
            <a:ext cx="640080" cy="4572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2A1E"/>
          </a:solidFill>
          <a:ln w="12700">
            <a:solidFill>
              <a:srgbClr val="0B2A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ManOSalwaKnot  |  Social Category  |  Pak Angels Final Hackathon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8872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0B2A1E"/>
          </a:solidFill>
          <a:ln w="12700">
            <a:solidFill>
              <a:srgbClr val="0B2A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188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20240" y="1463040"/>
            <a:ext cx="228600" cy="0"/>
          </a:xfrm>
          <a:prstGeom prst="line">
            <a:avLst/>
          </a:prstGeom>
          <a:noFill/>
          <a:ln w="25400">
            <a:solidFill>
              <a:srgbClr val="2EC9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48840" y="118872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48840" y="1188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20440" y="1463040"/>
            <a:ext cx="228600" cy="0"/>
          </a:xfrm>
          <a:prstGeom prst="line">
            <a:avLst/>
          </a:prstGeom>
          <a:noFill/>
          <a:ln w="25400">
            <a:solidFill>
              <a:srgbClr val="2EC9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49040" y="118872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0B2A1E"/>
          </a:solidFill>
          <a:ln w="12700">
            <a:solidFill>
              <a:srgbClr val="0B2A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49040" y="1188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1920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Salwa does not guess or make up food. It decides what to do, uses a tool, reads the result, and then answers.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94960" y="1188720"/>
            <a:ext cx="320040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0" y="1280160"/>
            <a:ext cx="54864" cy="36576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77840" y="12801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four tools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169164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search_food_tool: finds live posts by query or budget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budget_calculator_tool: price per person and savings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distance_calculator_tool: Haversine distance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research_food_business_tool: vendor check via Tavily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834640"/>
            <a:ext cx="466344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926080"/>
            <a:ext cx="54864" cy="36576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29260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in Roman Urdu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333756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"kia koi post ha available mjy 200pkr ma chiyan"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Salwa replies in Roman Urdu with Daal Chawal (Rs 180) and Paneer Wraps (Rs 120).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365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2: Quality inspector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04672"/>
            <a:ext cx="640080" cy="4572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2A1E"/>
          </a:solidFill>
          <a:ln w="12700">
            <a:solidFill>
              <a:srgbClr val="0B2A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ManOSalwaKnot  |  Social Category  |  Pak Angels Final Hackathon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88720"/>
            <a:ext cx="39319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280160"/>
            <a:ext cx="54864" cy="36576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2801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Visual scan (Gemini 2.5 Flash)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169164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for discoloration, packaging seal condition and temperature risk in the photo. Gives a score from 0 to 100.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39319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280160"/>
            <a:ext cx="54864" cy="36576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2801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Web check (Tavily)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69164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the vendor name for reviews, health department ratings and NGO certifications.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154680"/>
            <a:ext cx="8046720" cy="1280160"/>
          </a:xfrm>
          <a:prstGeom prst="roundRect">
            <a:avLst>
              <a:gd name="adj" fmla="val 4286"/>
            </a:avLst>
          </a:prstGeom>
          <a:solidFill>
            <a:srgbClr val="0B2A1E"/>
          </a:solidFill>
          <a:ln w="12700">
            <a:solidFill>
              <a:srgbClr val="0B2A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5661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checks are combined into one trust badge: verified, good, caution or warning. A buyer sees whether the food looks fresh and whether the kitchen has a real track record.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365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3 and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04672"/>
            <a:ext cx="640080" cy="4572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2A1E"/>
          </a:solidFill>
          <a:ln w="12700">
            <a:solidFill>
              <a:srgbClr val="0B2A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ManOSalwaKnot  |  Social Category  |  Pak Angels Final Hackathon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188720"/>
            <a:ext cx="39319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280160"/>
            <a:ext cx="54864" cy="36576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2801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buyers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169164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listings with budget (PKR), party size and distance. Example: Chicken Biryani at Rs 350 works out to Rs 87 per person for 4 people, 2.3 km away.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39319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kitchens: markdown by time left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E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hours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20-30% off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E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hours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40-50% off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E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 hours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70-80% off, or send to an NGO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154680"/>
            <a:ext cx="80467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246120"/>
            <a:ext cx="54864" cy="36576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246120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agent: how a drop reaches people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657600"/>
            <a:ext cx="7726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kitchen publishes a drop: load subscribers from food_subscriptions, work out each one's distance, build a branded email with food details, expiry countdown and a pickup button, and send it through Resend.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640080" cy="4572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2A1E"/>
          </a:solidFill>
          <a:ln w="12700">
            <a:solidFill>
              <a:srgbClr val="0B2A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ManOSalwaKnot  |  Social Category  |  Pak Angels Final Hackathon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143000"/>
            <a:ext cx="18745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234440"/>
            <a:ext cx="54864" cy="36576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234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6459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18.3.1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5.5.3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3.4.1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5.4.8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1143000"/>
            <a:ext cx="18745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1234440"/>
            <a:ext cx="54864" cy="36576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88920" y="1234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16459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0.115.0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0.30.0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143000"/>
            <a:ext cx="18745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234440"/>
            <a:ext cx="54864" cy="36576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1234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16459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&amp; LangGraph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(gpt-oss-120b)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1143000"/>
            <a:ext cx="18745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0840" y="1234440"/>
            <a:ext cx="54864" cy="36576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03720" y="1234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web check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16459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AI Search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880360"/>
            <a:ext cx="25603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2971800"/>
            <a:ext cx="54864" cy="36576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2971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cache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3383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(PostgreSQL, Auth)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Redis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2880360"/>
            <a:ext cx="25603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2971800"/>
            <a:ext cx="54864" cy="36576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74720" y="2971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474720" y="3383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API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35040" y="2880360"/>
            <a:ext cx="25603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2971800"/>
            <a:ext cx="54864" cy="36576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17920" y="2971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217920" y="33832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(backend)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0B2A1E"/>
                </a:solidFill>
                <a:latin typeface="Calibri"/>
              </a:rPr>
              <a:t>Database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04672"/>
            <a:ext cx="640080" cy="45720"/>
          </a:xfrm>
          <a:prstGeom prst="rect">
            <a:avLst/>
          </a:prstGeom>
          <a:solidFill>
            <a:srgbClr val="2E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0" y="3657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2EC98A"/>
                </a:solidFill>
                <a:latin typeface="Calibri"/>
              </a:rPr>
              <a:t>Data model (Supabase / PostgreSQL)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6400800" cy="297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ManOSalwaKnot  |  Social Category  |  Pak Angels Final Hackathon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246888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051560"/>
            <a:ext cx="2468880" cy="365760"/>
          </a:xfrm>
          <a:prstGeom prst="rect">
            <a:avLst/>
          </a:prstGeom>
          <a:solidFill>
            <a:srgbClr val="0B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0515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17319"/>
            <a:ext cx="2432304" cy="310896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490472"/>
            <a:ext cx="274320" cy="164592"/>
          </a:xfrm>
          <a:prstGeom prst="roundRect">
            <a:avLst/>
          </a:prstGeom>
          <a:solidFill>
            <a:srgbClr val="2E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1490472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0B2A1E"/>
                </a:solidFill>
                <a:latin typeface="Calibri"/>
              </a:rPr>
              <a:t>PK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417319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E2A38"/>
                </a:solidFill>
                <a:latin typeface="Calibri"/>
              </a:rPr>
              <a:t>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728216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E2A38"/>
                </a:solidFill>
                <a:latin typeface="Calibri"/>
              </a:rPr>
              <a:t>name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039112"/>
            <a:ext cx="2432304" cy="310896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2039112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E2A38"/>
                </a:solidFill>
                <a:latin typeface="Calibri"/>
              </a:rPr>
              <a:t>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2039112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>
                <a:solidFill>
                  <a:srgbClr val="5B6B7B"/>
                </a:solidFill>
                <a:latin typeface="Calibri"/>
              </a:rPr>
              <a:t>restaurant / hostel / individual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350008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E2A38"/>
                </a:solidFill>
                <a:latin typeface="Calibri"/>
              </a:rPr>
              <a:t>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19" y="2350008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>
                <a:solidFill>
                  <a:srgbClr val="5B6B7B"/>
                </a:solidFill>
                <a:latin typeface="Calibri"/>
              </a:rPr>
              <a:t>free / prime / ngo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660904"/>
            <a:ext cx="2432304" cy="310896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2660904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E2A38"/>
                </a:solidFill>
                <a:latin typeface="Calibri"/>
              </a:rPr>
              <a:t>location_text, lat, lng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97180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E2A38"/>
                </a:solidFill>
                <a:latin typeface="Calibri"/>
              </a:rPr>
              <a:t>rating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1051560"/>
            <a:ext cx="246888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37560" y="1051560"/>
            <a:ext cx="2468880" cy="365760"/>
          </a:xfrm>
          <a:prstGeom prst="rect">
            <a:avLst/>
          </a:prstGeom>
          <a:solidFill>
            <a:srgbClr val="0B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0" y="10515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food_posts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5848" y="1417319"/>
            <a:ext cx="2432304" cy="310896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447288" y="1490472"/>
            <a:ext cx="274320" cy="164592"/>
          </a:xfrm>
          <a:prstGeom prst="roundRect">
            <a:avLst/>
          </a:prstGeom>
          <a:solidFill>
            <a:srgbClr val="2E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47288" y="1490472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0B2A1E"/>
                </a:solidFill>
                <a:latin typeface="Calibri"/>
              </a:rPr>
              <a:t>PK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1417319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E2A38"/>
                </a:solidFill>
                <a:latin typeface="Calibri"/>
              </a:rPr>
              <a:t>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47288" y="1801368"/>
            <a:ext cx="274320" cy="164592"/>
          </a:xfrm>
          <a:prstGeom prst="roundRect">
            <a:avLst/>
          </a:prstGeom>
          <a:solidFill>
            <a:srgbClr val="F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47288" y="180136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0B2A1E"/>
                </a:solidFill>
                <a:latin typeface="Calibri"/>
              </a:rPr>
              <a:t>FK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1728216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E2A38"/>
                </a:solidFill>
                <a:latin typeface="Calibri"/>
              </a:rPr>
              <a:t>user_id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55848" y="2039112"/>
            <a:ext cx="2432304" cy="310896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74720" y="2039112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E2A38"/>
                </a:solidFill>
                <a:latin typeface="Calibri"/>
              </a:rPr>
              <a:t>food_name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2350008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E2A38"/>
                </a:solidFill>
                <a:latin typeface="Calibri"/>
              </a:rPr>
              <a:t>quantity, price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55848" y="2660904"/>
            <a:ext cx="2432304" cy="310896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74720" y="2660904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E2A38"/>
                </a:solidFill>
                <a:latin typeface="Calibri"/>
              </a:rPr>
              <a:t>original_price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297180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E2A38"/>
                </a:solidFill>
                <a:latin typeface="Calibri"/>
              </a:rPr>
              <a:t>expiry_time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55848" y="3282696"/>
            <a:ext cx="2432304" cy="310896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0" y="3282696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E2A38"/>
                </a:solidFill>
                <a:latin typeface="Calibri"/>
              </a:rPr>
              <a:t>status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328269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>
                <a:solidFill>
                  <a:srgbClr val="5B6B7B"/>
                </a:solidFill>
                <a:latin typeface="Calibri"/>
              </a:rPr>
              <a:t>available / reserved / sold / expired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1051560"/>
            <a:ext cx="246888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126480" y="1051560"/>
            <a:ext cx="2468880" cy="365760"/>
          </a:xfrm>
          <a:prstGeom prst="rect">
            <a:avLst/>
          </a:prstGeom>
          <a:solidFill>
            <a:srgbClr val="0B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63640" y="10515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transactions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44768" y="1417319"/>
            <a:ext cx="2432304" cy="310896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236208" y="1490472"/>
            <a:ext cx="274320" cy="164592"/>
          </a:xfrm>
          <a:prstGeom prst="roundRect">
            <a:avLst/>
          </a:prstGeom>
          <a:solidFill>
            <a:srgbClr val="2E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36208" y="1490472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0B2A1E"/>
                </a:solidFill>
                <a:latin typeface="Calibri"/>
              </a:rPr>
              <a:t>PK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1417319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E2A38"/>
                </a:solidFill>
                <a:latin typeface="Calibri"/>
              </a:rPr>
              <a:t>id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36208" y="1801368"/>
            <a:ext cx="274320" cy="164592"/>
          </a:xfrm>
          <a:prstGeom prst="roundRect">
            <a:avLst/>
          </a:prstGeom>
          <a:solidFill>
            <a:srgbClr val="F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36208" y="180136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0B2A1E"/>
                </a:solidFill>
                <a:latin typeface="Calibri"/>
              </a:rPr>
              <a:t>FK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1728216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E2A38"/>
                </a:solidFill>
                <a:latin typeface="Calibri"/>
              </a:rPr>
              <a:t>buyer_id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44768" y="2039112"/>
            <a:ext cx="2432304" cy="310896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236208" y="2112264"/>
            <a:ext cx="274320" cy="164592"/>
          </a:xfrm>
          <a:prstGeom prst="roundRect">
            <a:avLst/>
          </a:prstGeom>
          <a:solidFill>
            <a:srgbClr val="F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36208" y="2112264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0B2A1E"/>
                </a:solidFill>
                <a:latin typeface="Calibri"/>
              </a:rPr>
              <a:t>FK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2039112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E2A38"/>
                </a:solidFill>
                <a:latin typeface="Calibri"/>
              </a:rPr>
              <a:t>seller_id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36208" y="2423160"/>
            <a:ext cx="274320" cy="164592"/>
          </a:xfrm>
          <a:prstGeom prst="roundRect">
            <a:avLst/>
          </a:prstGeom>
          <a:solidFill>
            <a:srgbClr val="F5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36208" y="2423160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0B2A1E"/>
                </a:solidFill>
                <a:latin typeface="Calibri"/>
              </a:rPr>
              <a:t>FK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0" y="2350008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E2A38"/>
                </a:solidFill>
                <a:latin typeface="Calibri"/>
              </a:rPr>
              <a:t>food_id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44768" y="2660904"/>
            <a:ext cx="2432304" cy="310896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63640" y="2660904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E2A38"/>
                </a:solidFill>
                <a:latin typeface="Calibri"/>
              </a:rPr>
              <a:t>amount, commission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2971800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E2A38"/>
                </a:solidFill>
                <a:latin typeface="Calibri"/>
              </a:rPr>
              <a:t>payment_method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23760" y="297180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>
                <a:solidFill>
                  <a:srgbClr val="5B6B7B"/>
                </a:solidFill>
                <a:latin typeface="Calibri"/>
              </a:rPr>
              <a:t>cash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44768" y="3282696"/>
            <a:ext cx="2432304" cy="310896"/>
          </a:xfrm>
          <a:prstGeom prst="rect">
            <a:avLst/>
          </a:prstGeom>
          <a:solidFill>
            <a:srgbClr val="F4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263640" y="3282696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E2A38"/>
                </a:solidFill>
                <a:latin typeface="Calibri"/>
              </a:rPr>
              <a:t>status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3760" y="328269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0">
                <a:solidFill>
                  <a:srgbClr val="5B6B7B"/>
                </a:solidFill>
                <a:latin typeface="Calibri"/>
              </a:rPr>
              <a:t>pending / completed / cancelled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017520" y="2194560"/>
            <a:ext cx="320040" cy="0"/>
          </a:xfrm>
          <a:prstGeom prst="line">
            <a:avLst/>
          </a:prstGeom>
          <a:ln w="25400">
            <a:solidFill>
              <a:srgbClr val="2EC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806440" y="2194560"/>
            <a:ext cx="320040" cy="0"/>
          </a:xfrm>
          <a:prstGeom prst="line">
            <a:avLst/>
          </a:prstGeom>
          <a:ln w="25400">
            <a:solidFill>
              <a:srgbClr val="2EC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999232" y="19019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0B2A1E"/>
                </a:solidFill>
                <a:latin typeface="Calibri"/>
              </a:rPr>
              <a:t>1 : 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88152" y="19019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0B2A1E"/>
                </a:solidFill>
                <a:latin typeface="Calibri"/>
              </a:rPr>
              <a:t>1 : N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783080" y="3593592"/>
            <a:ext cx="0" cy="228599"/>
          </a:xfrm>
          <a:prstGeom prst="line">
            <a:avLst/>
          </a:prstGeom>
          <a:ln w="25400">
            <a:solidFill>
              <a:srgbClr val="F5A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783080" y="3822191"/>
            <a:ext cx="5577840" cy="0"/>
          </a:xfrm>
          <a:prstGeom prst="line">
            <a:avLst/>
          </a:prstGeom>
          <a:ln w="25400">
            <a:solidFill>
              <a:srgbClr val="F5A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360920" y="3593592"/>
            <a:ext cx="0" cy="228599"/>
          </a:xfrm>
          <a:prstGeom prst="line">
            <a:avLst/>
          </a:prstGeom>
          <a:ln w="25400">
            <a:solidFill>
              <a:srgbClr val="F5A0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3108960" y="358444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1">
                <a:solidFill>
                  <a:srgbClr val="0B2A1E"/>
                </a:solidFill>
                <a:latin typeface="Calibri"/>
              </a:rPr>
              <a:t>a profile is the buyer or the seller (1 : N)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8640" y="3977639"/>
            <a:ext cx="8046720" cy="731520"/>
          </a:xfrm>
          <a:prstGeom prst="roundRect">
            <a:avLst/>
          </a:prstGeom>
          <a:solidFill>
            <a:srgbClr val="0B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77240" y="4166427"/>
            <a:ext cx="7589520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dirty="0">
                <a:solidFill>
                  <a:srgbClr val="F5A04A"/>
                </a:solidFill>
                <a:latin typeface="Calibri"/>
              </a:rPr>
              <a:t>How to read it:  </a:t>
            </a:r>
            <a:r>
              <a:rPr sz="1150" b="0" dirty="0">
                <a:solidFill>
                  <a:srgbClr val="FFFFFF"/>
                </a:solidFill>
                <a:latin typeface="Calibri"/>
              </a:rPr>
              <a:t>A kitchen (profile) posts food. A buyer reserves it and that creates a transaction. Cash is the payment method</a:t>
            </a:r>
            <a:r>
              <a:rPr lang="en-US" sz="1150" dirty="0">
                <a:solidFill>
                  <a:srgbClr val="FFFFFF"/>
                </a:solidFill>
                <a:latin typeface="Calibri"/>
              </a:rPr>
              <a:t> a</a:t>
            </a:r>
            <a:r>
              <a:rPr sz="1150" b="0" dirty="0">
                <a:solidFill>
                  <a:srgbClr val="FFFFFF"/>
                </a:solidFill>
                <a:latin typeface="Calibri"/>
              </a:rPr>
              <a:t>nd the food post moves from available to reserved to sold.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Prototype: Live Demo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640080" cy="4572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2A1E"/>
          </a:solidFill>
          <a:ln w="12700">
            <a:solidFill>
              <a:srgbClr val="0B2A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ManOSalwaKnot  |  Social Category  |  Pak Angels Final Hackathon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2560320" cy="3383280"/>
          </a:xfrm>
          <a:prstGeom prst="roundRect">
            <a:avLst>
              <a:gd name="adj" fmla="val 2143"/>
            </a:avLst>
          </a:prstGeom>
          <a:solidFill>
            <a:srgbClr val="F4F7F3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1536192"/>
            <a:ext cx="457200" cy="36576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6916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"Post surplus"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food photo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"Inspect Photo AI"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"Publish Rescue Drop"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200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scores the photo. The drop appears on the live feed and subscribers get an email.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1097280"/>
            <a:ext cx="2560320" cy="3383280"/>
          </a:xfrm>
          <a:prstGeom prst="roundRect">
            <a:avLst>
              <a:gd name="adj" fmla="val 2143"/>
            </a:avLst>
          </a:prstGeom>
          <a:solidFill>
            <a:srgbClr val="F4F7F3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74720" y="1536192"/>
            <a:ext cx="457200" cy="36576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4720" y="16916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"Discover food"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"Reserve for Pickup"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AI Matchmaker (Rs 100, 1 person)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Salwa in Roman Urdu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3200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pickup code (#RSV-XXXX) is saved in "My activity". Salwa answers in Roman Urdu.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1097280"/>
            <a:ext cx="2560320" cy="3383280"/>
          </a:xfrm>
          <a:prstGeom prst="roundRect">
            <a:avLst>
              <a:gd name="adj" fmla="val 2143"/>
            </a:avLst>
          </a:prstGeom>
          <a:solidFill>
            <a:srgbClr val="F4F7F3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/ Hostel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1536192"/>
            <a:ext cx="457200" cy="36576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0" y="16916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"Food quality AI"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vendor name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radius in "Profile"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200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checks the kitchen's hygiene record. Alerts reach the inbox.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640080" cy="4572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2A1E"/>
          </a:solidFill>
          <a:ln w="12700">
            <a:solidFill>
              <a:srgbClr val="0B2A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ManOSalwaKnot  |  Social Category  |  Pak Angels Final Hackathon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393192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280160"/>
            <a:ext cx="54864" cy="36576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2801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today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69164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alerts go through the Resend sandbox gateway.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is cash on pickup only.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depend on outside services (Groq, Gemini, Tavily) and need internet.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393192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DE5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280160"/>
            <a:ext cx="54864" cy="36576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2801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69164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 verified email sending domain.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online payment option if users ask for it.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real kitchens and NGOs and improve from their feedback.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640080" cy="45720"/>
          </a:xfrm>
          <a:prstGeom prst="rect">
            <a:avLst/>
          </a:prstGeom>
          <a:solidFill>
            <a:srgbClr val="2EC98A"/>
          </a:solidFill>
          <a:ln w="12700">
            <a:solidFill>
              <a:srgbClr val="2EC9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2A1E"/>
          </a:solidFill>
          <a:ln w="12700">
            <a:solidFill>
              <a:srgbClr val="0B2A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46320"/>
            <a:ext cx="6400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ManOSalwaKnot  |  Social Category  |  Pak Angels Final Hackathon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4300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food is wasted every day while families nearby go hungry. ManOSalwaKnot closes that gap in real time.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AI agents handle search, trust checks, matching and alerts, so people can act fast.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reservations with cash on pickup keep it simple for everyone.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8046720" cy="914400"/>
          </a:xfrm>
          <a:prstGeom prst="roundRect">
            <a:avLst>
              <a:gd name="adj" fmla="val 6000"/>
            </a:avLst>
          </a:prstGeom>
          <a:solidFill>
            <a:srgbClr val="0B2A1E"/>
          </a:solidFill>
          <a:ln w="12700">
            <a:solidFill>
              <a:srgbClr val="0B2A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474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 Questions?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1617</Words>
  <Application>Microsoft Office PowerPoint</Application>
  <PresentationFormat>On-screen Show (16:9)</PresentationFormat>
  <Paragraphs>283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ManOSalwaKnot</dc:title>
  <dc:subject>PptxGenJS Presentation</dc:subject>
  <dc:creator>M.Tanveer</dc:creator>
  <cp:lastModifiedBy>M.Tanveer</cp:lastModifiedBy>
  <cp:revision>4</cp:revision>
  <dcterms:created xsi:type="dcterms:W3CDTF">2026-10-04T14:29:12Z</dcterms:created>
  <dcterms:modified xsi:type="dcterms:W3CDTF">2026-10-04T15:27:07Z</dcterms:modified>
</cp:coreProperties>
</file>